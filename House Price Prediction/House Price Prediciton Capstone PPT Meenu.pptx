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61" r:id="rId2"/>
    <p:sldId id="274" r:id="rId3"/>
    <p:sldId id="284" r:id="rId4"/>
    <p:sldId id="285" r:id="rId5"/>
    <p:sldId id="278" r:id="rId6"/>
    <p:sldId id="286" r:id="rId7"/>
    <p:sldId id="281" r:id="rId8"/>
    <p:sldId id="283" r:id="rId9"/>
    <p:sldId id="277" r:id="rId10"/>
    <p:sldId id="28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1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6FC1"/>
    <a:srgbClr val="A2A4A4"/>
    <a:srgbClr val="5999D3"/>
    <a:srgbClr val="254175"/>
    <a:srgbClr val="6D6868"/>
    <a:srgbClr val="005296"/>
    <a:srgbClr val="014D8E"/>
    <a:srgbClr val="00589F"/>
    <a:srgbClr val="005FA8"/>
    <a:srgbClr val="005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70"/>
    <p:restoredTop sz="96208"/>
  </p:normalViewPr>
  <p:slideViewPr>
    <p:cSldViewPr snapToGrid="0" snapToObjects="1" showGuides="1">
      <p:cViewPr>
        <p:scale>
          <a:sx n="66" d="100"/>
          <a:sy n="66" d="100"/>
        </p:scale>
        <p:origin x="488" y="220"/>
      </p:cViewPr>
      <p:guideLst>
        <p:guide orient="horz" pos="3748"/>
        <p:guide pos="1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8AD7AF-BEDB-51E6-F6A7-4455C73638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8E37D9-B8A9-E15B-F0EB-FF19E768B7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A9184-4818-4233-AD8F-0DCC56082F9D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0952D-A697-EDA3-A35F-B23CCE249D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CB77C-2EBF-DA36-A0E8-CC80CF8B3D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01C67-D4A6-4622-96B0-5EB32006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28762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DDAF9-A7E2-4F98-B28F-4795F99F5D80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66A714-500E-4A3E-AA4F-0586D6EDE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08140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896B-F54D-CB4E-8E1F-E922CD267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9CB30-EEA7-6C48-BA49-131675470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C9555-C9B4-D94D-A6AC-7000721C1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B8D3-9A29-B64E-B444-0F0A1CB1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229D4-3156-F845-AAA9-9F4AAF57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32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2A24-3BCF-104F-B2B4-808FFA12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9C088-CD2E-5547-B2FF-83C53C834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A407-11D9-5947-BBF3-D9FAD7D3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7F927-7DAC-9341-842B-0FD264B3B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5873C-CF74-1049-BA6C-9C81E0EE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71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1A87C-251F-CB4D-AA3C-16067809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BE4E9-9A6A-714C-9DDC-E4500738C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49ECF-C4D9-6E4A-840B-E852BB7D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AB227-288D-904A-95BB-5BE98828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2B549-73B6-8C4B-B667-111ADF17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1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7E6A-42EF-944F-A701-188B72DAC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1A28-F85A-CD49-95B6-8BDD3110B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70336-DDE3-E147-AAC4-D175A5EE4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FC7F5-0F77-CC4E-A7F3-E09E89CD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B59C2-A178-754D-898A-11EDEB4A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72E9B-7AC7-E942-A5A8-7CF1D9F2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3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D4EE-9647-124A-A396-2CD164183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BC021-8473-1247-A0A3-6E92389A5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61C68-B174-6F42-A27E-E6DFD2819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3931-4430-B94E-B071-1A9E67B5C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A3A001-AFF5-8242-A49C-787813881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947992-8148-4B4B-88CE-1BD94B62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78456-4CE9-8E47-A1D5-F506F16D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1E0FB-33FF-614D-A183-66470F06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6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ACE1-36CE-3A43-83D4-971EE0EF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4C53A-F68C-C543-B6B1-7918BAF3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ACA56-584B-8249-9BAB-AD509316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22BB5-F0BF-C94C-BF58-AFC82296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22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40D476-EEF5-7540-AF03-C95B5E3AB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/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0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B40D476-EEF5-7540-AF03-C95B5E3AB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19" t="13182" r="3002" b="7575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42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9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F07356-A34D-4F4D-A489-BAAA1D2552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25" t="12803" r="7288" b="46015"/>
          <a:stretch/>
        </p:blipFill>
        <p:spPr>
          <a:xfrm>
            <a:off x="0" y="0"/>
            <a:ext cx="12192000" cy="36168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503D70-FF35-A949-A3D8-E63C868F36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686" t="451" r="7375" b="1"/>
          <a:stretch/>
        </p:blipFill>
        <p:spPr>
          <a:xfrm rot="20436793">
            <a:off x="-188402" y="2374729"/>
            <a:ext cx="13432426" cy="5601308"/>
          </a:xfrm>
          <a:custGeom>
            <a:avLst/>
            <a:gdLst>
              <a:gd name="connsiteX0" fmla="*/ 12359125 w 13432426"/>
              <a:gd name="connsiteY0" fmla="*/ 0 h 5601308"/>
              <a:gd name="connsiteX1" fmla="*/ 13432426 w 13432426"/>
              <a:gd name="connsiteY1" fmla="*/ 377691 h 5601308"/>
              <a:gd name="connsiteX2" fmla="*/ 13432426 w 13432426"/>
              <a:gd name="connsiteY2" fmla="*/ 778593 h 5601308"/>
              <a:gd name="connsiteX3" fmla="*/ 11735330 w 13432426"/>
              <a:gd name="connsiteY3" fmla="*/ 5601308 h 5601308"/>
              <a:gd name="connsiteX4" fmla="*/ 9605975 w 13432426"/>
              <a:gd name="connsiteY4" fmla="*/ 5601308 h 5601308"/>
              <a:gd name="connsiteX5" fmla="*/ 0 w 13432426"/>
              <a:gd name="connsiteY5" fmla="*/ 2221001 h 5601308"/>
              <a:gd name="connsiteX6" fmla="*/ 781562 w 13432426"/>
              <a:gd name="connsiteY6" fmla="*/ 0 h 560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2426" h="5601308">
                <a:moveTo>
                  <a:pt x="12359125" y="0"/>
                </a:moveTo>
                <a:lnTo>
                  <a:pt x="13432426" y="377691"/>
                </a:lnTo>
                <a:lnTo>
                  <a:pt x="13432426" y="778593"/>
                </a:lnTo>
                <a:lnTo>
                  <a:pt x="11735330" y="5601308"/>
                </a:lnTo>
                <a:lnTo>
                  <a:pt x="9605975" y="5601308"/>
                </a:lnTo>
                <a:lnTo>
                  <a:pt x="0" y="2221001"/>
                </a:lnTo>
                <a:lnTo>
                  <a:pt x="781562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9360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8BA7AC-F33E-C740-BF8D-F8385FEFA6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/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2832F23-5F8E-C24A-924C-295E5E3C0658}"/>
              </a:ext>
            </a:extLst>
          </p:cNvPr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94B41FC5-8BC2-BB44-AC5B-4D88A06355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43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832F23-5F8E-C24A-924C-295E5E3C0658}"/>
              </a:ext>
            </a:extLst>
          </p:cNvPr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94B41FC5-8BC2-BB44-AC5B-4D88A06355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64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1018-2976-AA49-A740-DDC5D6D70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3960F-3B9D-134F-920F-56EC4DE5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9E991-8828-2049-9393-950FD703A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D5707-B915-DA47-9178-0C1ABADB0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4392B-A7E4-D143-BD60-F9538421A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51E37-109A-B343-B780-F7233ACAF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0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2277-4EFA-E743-8BB3-E6C403E66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D57E5-3218-D44D-89DB-D869107F7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F2D83-EAB4-CA44-A7F7-C18A4A715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5B392-C1F3-764E-9AA3-457044F1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4A54A-FF07-7C48-999A-67D71B4B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8022A-1337-0B44-AEA8-E4615BE3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58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3C27-9C65-3E45-873D-7188A540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68386-7936-D842-93AB-FC92510A5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51898-E20A-7241-B4F6-77B54730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5934C-A9FF-B24C-8179-DD4A08F8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683F-F7E4-5848-A263-3A612EE6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D2FD4F-C622-364D-BAB7-1FCE29216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6E67C-1202-244C-8382-954898328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5452-BB22-FC4D-B6DC-D4C0270D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DABA5-026E-9641-AAB0-00A2093D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273DA-7F7F-9343-A113-D4F5DF98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68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0D5B3-FA64-FD40-A370-F37EF9C6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7060-FA86-7942-99EC-88B397F15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D0105-0DFD-3F40-AA87-1642704DF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3CF04-95E7-7144-8A2B-1D7ADE927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8691-866E-CF46-9919-541469EDC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5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7" r:id="rId8"/>
    <p:sldLayoutId id="2147483673" r:id="rId9"/>
    <p:sldLayoutId id="2147483675" r:id="rId10"/>
    <p:sldLayoutId id="2147483674" r:id="rId11"/>
    <p:sldLayoutId id="2147483676" r:id="rId12"/>
    <p:sldLayoutId id="2147483668" r:id="rId13"/>
    <p:sldLayoutId id="2147483669" r:id="rId14"/>
    <p:sldLayoutId id="2147483670" r:id="rId15"/>
    <p:sldLayoutId id="2147483671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8621ED-814E-F441-93A2-B7DC230A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19" y="595020"/>
            <a:ext cx="3021463" cy="590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890AA6-3288-7A41-9F48-31D099259D5C}"/>
              </a:ext>
            </a:extLst>
          </p:cNvPr>
          <p:cNvSpPr txBox="1"/>
          <p:nvPr/>
        </p:nvSpPr>
        <p:spPr>
          <a:xfrm>
            <a:off x="282105" y="2367874"/>
            <a:ext cx="777816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 Price Prediction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40E41-0F8D-4151-979A-4270FBA95E57}"/>
              </a:ext>
            </a:extLst>
          </p:cNvPr>
          <p:cNvSpPr txBox="1"/>
          <p:nvPr/>
        </p:nvSpPr>
        <p:spPr>
          <a:xfrm>
            <a:off x="689316" y="3429000"/>
            <a:ext cx="4881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Submitted by</a:t>
            </a:r>
          </a:p>
          <a:p>
            <a:r>
              <a:rPr lang="en-IN" dirty="0"/>
              <a:t>Meenu G</a:t>
            </a:r>
          </a:p>
        </p:txBody>
      </p:sp>
    </p:spTree>
    <p:extLst>
      <p:ext uri="{BB962C8B-B14F-4D97-AF65-F5344CB8AC3E}">
        <p14:creationId xmlns:p14="http://schemas.microsoft.com/office/powerpoint/2010/main" val="3252274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67227-77F4-6B77-D70C-4A239AF9E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AF015F-E0F0-9414-30A5-69E06C2F3FD6}"/>
              </a:ext>
            </a:extLst>
          </p:cNvPr>
          <p:cNvSpPr/>
          <p:nvPr/>
        </p:nvSpPr>
        <p:spPr>
          <a:xfrm>
            <a:off x="1059266" y="563351"/>
            <a:ext cx="9327879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 Understanding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C234C-200A-ABFC-BFB6-592B5D0AC852}"/>
              </a:ext>
            </a:extLst>
          </p:cNvPr>
          <p:cNvSpPr txBox="1"/>
          <p:nvPr/>
        </p:nvSpPr>
        <p:spPr>
          <a:xfrm>
            <a:off x="686472" y="1585668"/>
            <a:ext cx="1007346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</a:t>
            </a:r>
            <a:endParaRPr lang="en-US" dirty="0"/>
          </a:p>
          <a:p>
            <a:pPr marL="25400" indent="0">
              <a:buNone/>
            </a:pPr>
            <a:r>
              <a:rPr lang="en-US" dirty="0"/>
              <a:t>Buying or selling a house is not just about location or square footage. Many other factors influence a property's value like condition, age, renovations, and even whether it has a waterfront view. Suppose you're planning to sell your home but aren't sure what a fair asking price should be. In most cases, you would compare it to similar properties in your area to get an estimate. This project aims to take that a step further by using historical housing data to understand what truly drives house prices. </a:t>
            </a:r>
          </a:p>
          <a:p>
            <a:pPr marL="25400" indent="0" algn="ctr">
              <a:buNone/>
            </a:pPr>
            <a:r>
              <a:rPr lang="en-IN" sz="2800" dirty="0"/>
              <a:t>Scope and Objective</a:t>
            </a:r>
          </a:p>
          <a:p>
            <a:r>
              <a:rPr lang="en-US" dirty="0"/>
              <a:t>The primary objective of this project is to analyze historical real estate data from 2014–2015 to uncover the key drivers of house prices. The scope includes:</a:t>
            </a:r>
          </a:p>
          <a:p>
            <a:r>
              <a:rPr lang="en-US" dirty="0"/>
              <a:t>Exploratory Data Analysis </a:t>
            </a:r>
            <a:r>
              <a:rPr lang="en-US" b="1" dirty="0"/>
              <a:t>:</a:t>
            </a:r>
            <a:r>
              <a:rPr lang="en-US" dirty="0"/>
              <a:t> To identify trends, detect anomalies, and prepare the dataset for modeling.</a:t>
            </a:r>
          </a:p>
          <a:p>
            <a:r>
              <a:rPr lang="en-US" dirty="0"/>
              <a:t>Clustering Techniques: To segment properties into meaningful groups, revealing distinct market patterns.</a:t>
            </a:r>
          </a:p>
          <a:p>
            <a:r>
              <a:rPr lang="en-US" dirty="0"/>
              <a:t>Predictive Modeling: To estimate house prices based on influential features and improve decision-making accuracy.</a:t>
            </a:r>
          </a:p>
          <a:p>
            <a:r>
              <a:rPr lang="en-US" dirty="0"/>
              <a:t>The resulting insights are designed to empower buyers, sellers, and real estate professionals with data-backed strategies for smarter property decisions.</a:t>
            </a:r>
          </a:p>
        </p:txBody>
      </p:sp>
    </p:spTree>
    <p:extLst>
      <p:ext uri="{BB962C8B-B14F-4D97-AF65-F5344CB8AC3E}">
        <p14:creationId xmlns:p14="http://schemas.microsoft.com/office/powerpoint/2010/main" val="106124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FFC91BF-4A74-01AB-5E6B-08951869ADCA}"/>
              </a:ext>
            </a:extLst>
          </p:cNvPr>
          <p:cNvSpPr txBox="1"/>
          <p:nvPr/>
        </p:nvSpPr>
        <p:spPr>
          <a:xfrm>
            <a:off x="853687" y="1037827"/>
            <a:ext cx="957122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Features Analyzed </a:t>
            </a:r>
            <a:r>
              <a:rPr lang="en-US" b="1" dirty="0">
                <a:solidFill>
                  <a:prstClr val="black"/>
                </a:solidFill>
              </a:rPr>
              <a:t>–</a:t>
            </a:r>
            <a:r>
              <a:rPr lang="en-US" dirty="0">
                <a:solidFill>
                  <a:prstClr val="black"/>
                </a:solidFill>
              </a:rPr>
              <a:t>Total 22</a:t>
            </a:r>
          </a:p>
          <a:p>
            <a:r>
              <a:rPr lang="en-US" dirty="0">
                <a:solidFill>
                  <a:prstClr val="black"/>
                </a:solidFill>
              </a:rPr>
              <a:t>Numerical features - price, </a:t>
            </a:r>
            <a:r>
              <a:rPr lang="en-US" dirty="0" err="1">
                <a:solidFill>
                  <a:prstClr val="black"/>
                </a:solidFill>
              </a:rPr>
              <a:t>room_bed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dirty="0" err="1">
                <a:solidFill>
                  <a:prstClr val="black"/>
                </a:solidFill>
              </a:rPr>
              <a:t>room_bath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dirty="0" err="1">
                <a:solidFill>
                  <a:prstClr val="black"/>
                </a:solidFill>
              </a:rPr>
              <a:t>living_measure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dirty="0" err="1">
                <a:solidFill>
                  <a:prstClr val="black"/>
                </a:solidFill>
              </a:rPr>
              <a:t>lot_measure</a:t>
            </a:r>
            <a:r>
              <a:rPr lang="en-US" dirty="0">
                <a:solidFill>
                  <a:prstClr val="black"/>
                </a:solidFill>
              </a:rPr>
              <a:t>, ceil, quality, </a:t>
            </a:r>
            <a:r>
              <a:rPr lang="en-US" dirty="0" err="1">
                <a:solidFill>
                  <a:prstClr val="black"/>
                </a:solidFill>
              </a:rPr>
              <a:t>ceil_measure</a:t>
            </a:r>
            <a:r>
              <a:rPr lang="en-US" dirty="0">
                <a:solidFill>
                  <a:prstClr val="black"/>
                </a:solidFill>
              </a:rPr>
              <a:t>, basement, living_measure15, lot_measure15, </a:t>
            </a:r>
            <a:r>
              <a:rPr lang="en-US" dirty="0" err="1">
                <a:solidFill>
                  <a:prstClr val="black"/>
                </a:solidFill>
              </a:rPr>
              <a:t>total_area</a:t>
            </a:r>
            <a:r>
              <a:rPr lang="en-US" dirty="0">
                <a:solidFill>
                  <a:prstClr val="black"/>
                </a:solidFill>
              </a:rPr>
              <a:t>, sight, condition</a:t>
            </a:r>
          </a:p>
          <a:p>
            <a:r>
              <a:rPr lang="en-US" dirty="0">
                <a:solidFill>
                  <a:prstClr val="black"/>
                </a:solidFill>
              </a:rPr>
              <a:t>Categorical features - coast, furnished</a:t>
            </a:r>
          </a:p>
          <a:p>
            <a:r>
              <a:rPr lang="en-US" dirty="0">
                <a:solidFill>
                  <a:prstClr val="black"/>
                </a:solidFill>
              </a:rPr>
              <a:t>Others  – </a:t>
            </a:r>
            <a:r>
              <a:rPr lang="en-US" dirty="0" err="1">
                <a:solidFill>
                  <a:prstClr val="black"/>
                </a:solidFill>
              </a:rPr>
              <a:t>cid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dirty="0" err="1">
                <a:solidFill>
                  <a:prstClr val="black"/>
                </a:solidFill>
              </a:rPr>
              <a:t>dayhours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dirty="0" err="1">
                <a:solidFill>
                  <a:prstClr val="black"/>
                </a:solidFill>
              </a:rPr>
              <a:t>lat</a:t>
            </a:r>
            <a:r>
              <a:rPr lang="en-US" dirty="0">
                <a:solidFill>
                  <a:prstClr val="black"/>
                </a:solidFill>
              </a:rPr>
              <a:t>, long, </a:t>
            </a:r>
            <a:r>
              <a:rPr lang="en-US" dirty="0" err="1">
                <a:solidFill>
                  <a:prstClr val="black"/>
                </a:solidFill>
              </a:rPr>
              <a:t>zipcode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dirty="0" err="1">
                <a:solidFill>
                  <a:prstClr val="black"/>
                </a:solidFill>
              </a:rPr>
              <a:t>yr_built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dirty="0" err="1">
                <a:solidFill>
                  <a:prstClr val="black"/>
                </a:solidFill>
              </a:rPr>
              <a:t>yr_renovated</a:t>
            </a:r>
            <a:endParaRPr lang="en-US" dirty="0">
              <a:solidFill>
                <a:prstClr val="black"/>
              </a:solidFill>
            </a:endParaRP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Buyer Preferences and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Most buyers prefer </a:t>
            </a:r>
            <a:r>
              <a:rPr lang="en-US" b="1" dirty="0">
                <a:solidFill>
                  <a:prstClr val="black"/>
                </a:solidFill>
              </a:rPr>
              <a:t>3-bedroom </a:t>
            </a:r>
            <a:r>
              <a:rPr lang="en-US" dirty="0">
                <a:solidFill>
                  <a:prstClr val="black"/>
                </a:solidFill>
              </a:rPr>
              <a:t>homes, followed by 4 and 2-bedroom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Over 60% of listings fall under </a:t>
            </a:r>
            <a:r>
              <a:rPr lang="en-US" b="1" dirty="0">
                <a:solidFill>
                  <a:prstClr val="black"/>
                </a:solidFill>
              </a:rPr>
              <a:t>mid-sized homes </a:t>
            </a:r>
            <a:r>
              <a:rPr lang="en-US" dirty="0">
                <a:solidFill>
                  <a:prstClr val="black"/>
                </a:solidFill>
              </a:rPr>
              <a:t>(1000–2500 sq ft), indicating the most in-demand segment.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prstClr val="black"/>
                </a:solidFill>
              </a:rPr>
              <a:t>1 or 2-level homes </a:t>
            </a:r>
            <a:r>
              <a:rPr lang="en-US" dirty="0">
                <a:solidFill>
                  <a:prstClr val="black"/>
                </a:solidFill>
              </a:rPr>
              <a:t>are most commonly sold, suggesting buyers prefer simpler structures.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More than 90% of homes are </a:t>
            </a:r>
            <a:r>
              <a:rPr lang="en-US" b="1" dirty="0">
                <a:solidFill>
                  <a:prstClr val="black"/>
                </a:solidFill>
              </a:rPr>
              <a:t>of quality rating 7 </a:t>
            </a:r>
            <a:r>
              <a:rPr lang="en-US" dirty="0">
                <a:solidFill>
                  <a:prstClr val="black"/>
                </a:solidFill>
              </a:rPr>
              <a:t>or above, showing buyers prefer standard to higher-quality properties.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Around </a:t>
            </a:r>
            <a:r>
              <a:rPr lang="en-US" b="1" dirty="0">
                <a:solidFill>
                  <a:prstClr val="black"/>
                </a:solidFill>
              </a:rPr>
              <a:t>80%</a:t>
            </a:r>
            <a:r>
              <a:rPr lang="en-US" dirty="0">
                <a:solidFill>
                  <a:prstClr val="black"/>
                </a:solidFill>
              </a:rPr>
              <a:t> of homes are </a:t>
            </a:r>
            <a:r>
              <a:rPr lang="en-US" b="1" dirty="0">
                <a:solidFill>
                  <a:prstClr val="black"/>
                </a:solidFill>
              </a:rPr>
              <a:t>unfurnished</a:t>
            </a:r>
            <a:r>
              <a:rPr lang="en-US" dirty="0">
                <a:solidFill>
                  <a:prstClr val="black"/>
                </a:solidFill>
              </a:rPr>
              <a:t>. Furnished homes are usually larger and of better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Only 10% of homes had in-person viewings (sight &gt; 0), showing that most buyers decide without visiting the house.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Property Characteristics and Market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 has a strong </a:t>
            </a:r>
            <a:r>
              <a:rPr lang="en-US" b="1" dirty="0"/>
              <a:t>positive correlation </a:t>
            </a:r>
            <a:r>
              <a:rPr lang="en-US" dirty="0"/>
              <a:t>with:</a:t>
            </a:r>
          </a:p>
          <a:p>
            <a:pPr lvl="1"/>
            <a:r>
              <a:rPr lang="en-US" dirty="0" err="1"/>
              <a:t>living_measure</a:t>
            </a:r>
            <a:r>
              <a:rPr lang="en-US" dirty="0"/>
              <a:t>, </a:t>
            </a:r>
            <a:r>
              <a:rPr lang="en-US" dirty="0" err="1"/>
              <a:t>ceil_measure</a:t>
            </a:r>
            <a:r>
              <a:rPr lang="en-US" dirty="0"/>
              <a:t>, living_measure15 (size-related),quality, furnished (furnishing status), and </a:t>
            </a:r>
            <a:r>
              <a:rPr lang="en-US" dirty="0" err="1"/>
              <a:t>room_bath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Living area (sq ft) increases house price, while lot size does not show strong correlation.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</a:endParaRPr>
          </a:p>
          <a:p>
            <a:endParaRPr kumimoji="0" lang="en-IN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1CD75-F5F9-12D8-56C7-05AC7CB6C369}"/>
              </a:ext>
            </a:extLst>
          </p:cNvPr>
          <p:cNvSpPr/>
          <p:nvPr/>
        </p:nvSpPr>
        <p:spPr>
          <a:xfrm>
            <a:off x="975358" y="145506"/>
            <a:ext cx="9327879" cy="1077218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 Understanding</a:t>
            </a:r>
          </a:p>
          <a:p>
            <a:pPr algn="ctr"/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(contd…)</a:t>
            </a:r>
          </a:p>
        </p:txBody>
      </p:sp>
    </p:spTree>
    <p:extLst>
      <p:ext uri="{BB962C8B-B14F-4D97-AF65-F5344CB8AC3E}">
        <p14:creationId xmlns:p14="http://schemas.microsoft.com/office/powerpoint/2010/main" val="454506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733078-98E9-BDF6-9AD7-6EF912784587}"/>
              </a:ext>
            </a:extLst>
          </p:cNvPr>
          <p:cNvSpPr txBox="1"/>
          <p:nvPr/>
        </p:nvSpPr>
        <p:spPr>
          <a:xfrm>
            <a:off x="911496" y="1347865"/>
            <a:ext cx="994228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quality homes are priced significantly more, confirming a strong quality-price relationship.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Coastal view properties are less than 1% of listings but are priced much higher.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About 95% of homes are not renovated, suggesting limited added value from renovations in this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 ratings are mostly 3 to 5, but unlike quality ratings, they do not show strong correlation with price.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bedrooms generally mean a higher price, but not always. Among homes with 3 to 5 bedrooms, prices vary widely. This shows room size and quality matter more than just the 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Three distinct property clusters </a:t>
            </a:r>
            <a:r>
              <a:rPr lang="en-US" dirty="0"/>
              <a:t>could be identified in the housing market, each showing clear differences in features such as living and lot size, furnishing, ceil, quality, and bedroom and coast view: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F79FA2-D1AB-E682-4777-F291490D12D8}"/>
              </a:ext>
            </a:extLst>
          </p:cNvPr>
          <p:cNvSpPr/>
          <p:nvPr/>
        </p:nvSpPr>
        <p:spPr>
          <a:xfrm>
            <a:off x="1218700" y="147536"/>
            <a:ext cx="9327879" cy="1077218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 Understanding</a:t>
            </a:r>
          </a:p>
          <a:p>
            <a:pPr algn="ctr"/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(contd…)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37A7DB7-4AE2-080D-8F70-3D40E2135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269394"/>
              </p:ext>
            </p:extLst>
          </p:nvPr>
        </p:nvGraphicFramePr>
        <p:xfrm>
          <a:off x="948377" y="4497310"/>
          <a:ext cx="9347200" cy="20256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08626934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4331873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81548899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2269793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3244252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1065794987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9106371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7287025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796064170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Cluster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Living Area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Lot Size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Furnished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Ceil (most common)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Quality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Bedrooms (mode)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Coastal View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Comment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832925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Large (~2880 sqft)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Large (~255k sqft)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44% furnished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floors (48%)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6–8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3–4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None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Smallest group. Large homes on varied lots. Mid-high quality.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260578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Compact/mid sized (~1607 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sqft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Small (~8.9k sqft)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1.6% furnished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floor (62%)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Mostly 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None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Largest group. Compact homes on smallest lots. Mid-quality.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6243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Spacious (~3083 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sqft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Medium (~15k sqft)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58% furnished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floors (70%)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Mostly 9–10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3–4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Homes with coastal view present (&lt;1%)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High-end homes with larger lots. Only cluster with coastal view.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042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8667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B3E73-0DBD-B122-7ABF-8A8DAE8F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3CC10F-ABA5-928A-9683-FBDEFE1D24DD}"/>
              </a:ext>
            </a:extLst>
          </p:cNvPr>
          <p:cNvSpPr/>
          <p:nvPr/>
        </p:nvSpPr>
        <p:spPr>
          <a:xfrm>
            <a:off x="1399663" y="633666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Modelling Approach Used &amp; Why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0DF9F0-BDCC-173E-F727-22661FCE4603}"/>
              </a:ext>
            </a:extLst>
          </p:cNvPr>
          <p:cNvSpPr/>
          <p:nvPr/>
        </p:nvSpPr>
        <p:spPr>
          <a:xfrm>
            <a:off x="1287519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69A59BC-CD76-24A0-4A85-72B37820EF0A}"/>
              </a:ext>
            </a:extLst>
          </p:cNvPr>
          <p:cNvSpPr/>
          <p:nvPr/>
        </p:nvSpPr>
        <p:spPr>
          <a:xfrm>
            <a:off x="4585895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36C51DD-A889-7D0A-4D92-ED64603B0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096670"/>
              </p:ext>
            </p:extLst>
          </p:nvPr>
        </p:nvGraphicFramePr>
        <p:xfrm>
          <a:off x="1032589" y="1476243"/>
          <a:ext cx="8680755" cy="4953287"/>
        </p:xfrm>
        <a:graphic>
          <a:graphicData uri="http://schemas.openxmlformats.org/drawingml/2006/table">
            <a:tbl>
              <a:tblPr/>
              <a:tblGrid>
                <a:gridCol w="1635285">
                  <a:extLst>
                    <a:ext uri="{9D8B030D-6E8A-4147-A177-3AD203B41FA5}">
                      <a16:colId xmlns:a16="http://schemas.microsoft.com/office/drawing/2014/main" val="1461664468"/>
                    </a:ext>
                  </a:extLst>
                </a:gridCol>
                <a:gridCol w="663595">
                  <a:extLst>
                    <a:ext uri="{9D8B030D-6E8A-4147-A177-3AD203B41FA5}">
                      <a16:colId xmlns:a16="http://schemas.microsoft.com/office/drawing/2014/main" val="3554350862"/>
                    </a:ext>
                  </a:extLst>
                </a:gridCol>
                <a:gridCol w="782092">
                  <a:extLst>
                    <a:ext uri="{9D8B030D-6E8A-4147-A177-3AD203B41FA5}">
                      <a16:colId xmlns:a16="http://schemas.microsoft.com/office/drawing/2014/main" val="3363570303"/>
                    </a:ext>
                  </a:extLst>
                </a:gridCol>
                <a:gridCol w="995391">
                  <a:extLst>
                    <a:ext uri="{9D8B030D-6E8A-4147-A177-3AD203B41FA5}">
                      <a16:colId xmlns:a16="http://schemas.microsoft.com/office/drawing/2014/main" val="1062338110"/>
                    </a:ext>
                  </a:extLst>
                </a:gridCol>
                <a:gridCol w="1042791">
                  <a:extLst>
                    <a:ext uri="{9D8B030D-6E8A-4147-A177-3AD203B41FA5}">
                      <a16:colId xmlns:a16="http://schemas.microsoft.com/office/drawing/2014/main" val="2798237420"/>
                    </a:ext>
                  </a:extLst>
                </a:gridCol>
                <a:gridCol w="912442">
                  <a:extLst>
                    <a:ext uri="{9D8B030D-6E8A-4147-A177-3AD203B41FA5}">
                      <a16:colId xmlns:a16="http://schemas.microsoft.com/office/drawing/2014/main" val="1220564859"/>
                    </a:ext>
                  </a:extLst>
                </a:gridCol>
                <a:gridCol w="710994">
                  <a:extLst>
                    <a:ext uri="{9D8B030D-6E8A-4147-A177-3AD203B41FA5}">
                      <a16:colId xmlns:a16="http://schemas.microsoft.com/office/drawing/2014/main" val="3273442566"/>
                    </a:ext>
                  </a:extLst>
                </a:gridCol>
                <a:gridCol w="1938165">
                  <a:extLst>
                    <a:ext uri="{9D8B030D-6E8A-4147-A177-3AD203B41FA5}">
                      <a16:colId xmlns:a16="http://schemas.microsoft.com/office/drawing/2014/main" val="3272643192"/>
                    </a:ext>
                  </a:extLst>
                </a:gridCol>
              </a:tblGrid>
              <a:tr h="15939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Model</a:t>
                      </a: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Set</a:t>
                      </a: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Root Mean Squared Error</a:t>
                      </a: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Mean Absolute Error</a:t>
                      </a: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Adj. R-squared</a:t>
                      </a: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Mean Absolute Percentage Error</a:t>
                      </a: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R-squared</a:t>
                      </a: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Residual Spread Assessment</a:t>
                      </a: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351469"/>
                  </a:ext>
                </a:extLst>
              </a:tr>
              <a:tr h="159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9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9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(RMSE)</a:t>
                      </a: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(MAE)</a:t>
                      </a: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900" b="1" i="0" u="none" strike="noStrike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(MAPE)</a:t>
                      </a: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900" b="1" i="0" u="none" strike="noStrike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900" b="1" i="0" u="none" strike="noStrike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977864"/>
                  </a:ext>
                </a:extLst>
              </a:tr>
              <a:tr h="6375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XGBoost Regressor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88340.624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63134.410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13.728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Residuals tighter in middle, some variance at extremes -- Slightly Overfit. Best performing model with highest test and train R-squared and acceptable level of MAPE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91566"/>
                  </a:ext>
                </a:extLst>
              </a:tr>
              <a:tr h="159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164407.181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91143.195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0.826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17.242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0.826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191406"/>
                  </a:ext>
                </a:extLst>
              </a:tr>
              <a:tr h="3187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Random Forest Regressor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65842.943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42018.841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0.965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8.753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0.965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Residuals spread wider in test set -- Highly overfitting. Strong drop in test performance.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00851"/>
                  </a:ext>
                </a:extLst>
              </a:tr>
              <a:tr h="159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193788.446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117270.170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0.758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23.981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0.758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698266"/>
                  </a:ext>
                </a:extLst>
              </a:tr>
              <a:tr h="478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Polynomial Regression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0.292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0.232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0.686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1.790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0.686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Residuals well-distributed, small bias-- good fit. Consistent performance across train and test sets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205125"/>
                  </a:ext>
                </a:extLst>
              </a:tr>
              <a:tr h="159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0.296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0.234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0.699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1.802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0.700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685183"/>
                  </a:ext>
                </a:extLst>
              </a:tr>
              <a:tr h="3187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Ridge Regression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0.309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0.648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1.896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0.648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Slight curvature of residuals -- good fit. Stable performance across train and test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920489"/>
                  </a:ext>
                </a:extLst>
              </a:tr>
              <a:tr h="159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0.309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0.246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0.671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1.894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0.672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76017"/>
                  </a:ext>
                </a:extLst>
              </a:tr>
              <a:tr h="478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Linear Regression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0.309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1.897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0.648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Residuals well-distributed and no bias. Good fit. Consistent performance across train and test sets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490089"/>
                  </a:ext>
                </a:extLst>
              </a:tr>
              <a:tr h="159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0.309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0.246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0.671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1.894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0.671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38438"/>
                  </a:ext>
                </a:extLst>
              </a:tr>
              <a:tr h="3187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LASSO Regression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0.309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1.897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0.648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Residuals showing clear pattern. But the performance is stable across train and test sets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552901"/>
                  </a:ext>
                </a:extLst>
              </a:tr>
              <a:tr h="159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0.309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1.897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0.648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332930"/>
                  </a:ext>
                </a:extLst>
              </a:tr>
              <a:tr h="159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ADABoost Regressor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221760.114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152952.723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0.604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33.417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0.604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Weak learner, noisy fit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329755"/>
                  </a:ext>
                </a:extLst>
              </a:tr>
              <a:tr h="159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246181.588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158919.200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0.609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34.058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0.610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77104"/>
                  </a:ext>
                </a:extLst>
              </a:tr>
              <a:tr h="159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SVM Regressor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362460.091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218142.531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-0.059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42.175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-0.058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Severely underfit — fails to capture structure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881844"/>
                  </a:ext>
                </a:extLst>
              </a:tr>
              <a:tr h="159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405257.831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228799.787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-0.060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43.139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-0.056</a:t>
                      </a:r>
                    </a:p>
                  </a:txBody>
                  <a:tcPr marL="5359" marR="5359" marT="535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59" marR="5359" marT="53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906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24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AA6D68-3DA1-8659-AB30-C7EA90CF2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663" y="2017648"/>
            <a:ext cx="7925207" cy="313071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676821-093A-750F-767E-D87BC1648945}"/>
              </a:ext>
            </a:extLst>
          </p:cNvPr>
          <p:cNvSpPr/>
          <p:nvPr/>
        </p:nvSpPr>
        <p:spPr>
          <a:xfrm>
            <a:off x="1399663" y="633666"/>
            <a:ext cx="9116863" cy="101566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Modelling Approach Used &amp; Why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contd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)…</a:t>
            </a:r>
          </a:p>
        </p:txBody>
      </p:sp>
    </p:spTree>
    <p:extLst>
      <p:ext uri="{BB962C8B-B14F-4D97-AF65-F5344CB8AC3E}">
        <p14:creationId xmlns:p14="http://schemas.microsoft.com/office/powerpoint/2010/main" val="298470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904EF6-97FD-7394-FEC7-547AB6220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2032"/>
            <a:ext cx="7760099" cy="4216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99EDE6-D17C-3E94-94EF-8410A09A2743}"/>
              </a:ext>
            </a:extLst>
          </p:cNvPr>
          <p:cNvSpPr txBox="1"/>
          <p:nvPr/>
        </p:nvSpPr>
        <p:spPr>
          <a:xfrm>
            <a:off x="7218948" y="1915124"/>
            <a:ext cx="35377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Most important feature is </a:t>
            </a:r>
            <a:r>
              <a:rPr lang="en-IN" sz="1400" b="1" dirty="0">
                <a:solidFill>
                  <a:schemeClr val="accent6"/>
                </a:solidFill>
              </a:rPr>
              <a:t>furnishing-</a:t>
            </a:r>
            <a:r>
              <a:rPr lang="en-IN" sz="1400" dirty="0"/>
              <a:t> contributing the most to the predictions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Other top contributors are </a:t>
            </a:r>
            <a:r>
              <a:rPr lang="en-IN" sz="1400" b="1" dirty="0">
                <a:solidFill>
                  <a:schemeClr val="accent6"/>
                </a:solidFill>
              </a:rPr>
              <a:t>quality, coast, living measure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4">
                    <a:lumMod val="75000"/>
                  </a:schemeClr>
                </a:solidFill>
              </a:rPr>
              <a:t>Location , number of sightings, age of house, living measure 15</a:t>
            </a:r>
            <a:r>
              <a:rPr lang="en-IN" sz="1400" dirty="0"/>
              <a:t> has moderate influence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Features with relatively low impact: bathroom count, ceil measure, condition, lot measure 15, basement, ceil, lot measure, year of renovation, total area, months since selling, bedroom count.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07D677-94E0-3553-1AD9-28D6157E84AE}"/>
              </a:ext>
            </a:extLst>
          </p:cNvPr>
          <p:cNvSpPr/>
          <p:nvPr/>
        </p:nvSpPr>
        <p:spPr>
          <a:xfrm>
            <a:off x="1065591" y="237664"/>
            <a:ext cx="10060817" cy="113877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 from Analysis </a:t>
            </a:r>
            <a:endParaRPr lang="en-US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Features</a:t>
            </a:r>
            <a:endParaRPr lang="en-US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977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972F66-5A6E-A3AD-C7E8-FBCBD8745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74" y="1014780"/>
            <a:ext cx="7817252" cy="5467631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5AC5E375-B5D0-A999-6475-63359EFB6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5126" y="1075357"/>
            <a:ext cx="2480095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100" b="1" dirty="0"/>
              <a:t>1. furnished_1 vs Price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Binary feature (0 = unfurnished, 1 = furnished)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Furnished homes command higher prices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1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100" b="1" dirty="0"/>
              <a:t>2. quality vs Price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Strong non-linear upward price trend: price rises sharply after quality &gt; 5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Suggests high-quality homes are more valuable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1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100" b="1" dirty="0"/>
              <a:t>3. coast_1 vs Price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Binary feature,(0 = no coastal view, 1= with coastal view) houses with coastal view are priced higher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Despite moderate feature importance, actual price impact is weak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1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100" b="1" dirty="0"/>
              <a:t>4. Living measure vs Price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Clear upward curve for average price: larger homes tend to have  higher prices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Actual price trend(yellow line) shows variability and outliers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Strong predictor –price increases more steeply beyond ~3000 </a:t>
            </a:r>
            <a:r>
              <a:rPr lang="en-US" altLang="en-US" sz="1100" dirty="0" err="1"/>
              <a:t>sqft</a:t>
            </a:r>
            <a:r>
              <a:rPr lang="en-US" altLang="en-US" sz="1100" dirty="0"/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1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100" b="1" dirty="0"/>
              <a:t>5. Location Cluster vs Price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 Mild upward trend for prices showing moderate impact on price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 Certain locations priced higher than others.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1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1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1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10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2A02E-5C74-BC63-523B-EC8B08280C14}"/>
              </a:ext>
            </a:extLst>
          </p:cNvPr>
          <p:cNvSpPr/>
          <p:nvPr/>
        </p:nvSpPr>
        <p:spPr>
          <a:xfrm>
            <a:off x="517874" y="67931"/>
            <a:ext cx="10676857" cy="1077218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 from Analysis</a:t>
            </a:r>
          </a:p>
          <a:p>
            <a:pPr algn="ctr"/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(contd..)</a:t>
            </a:r>
          </a:p>
        </p:txBody>
      </p:sp>
    </p:spTree>
    <p:extLst>
      <p:ext uri="{BB962C8B-B14F-4D97-AF65-F5344CB8AC3E}">
        <p14:creationId xmlns:p14="http://schemas.microsoft.com/office/powerpoint/2010/main" val="3624293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A14FA-EDF5-4750-B7D2-AD57A2485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E517D2-9BF1-0431-977D-75CE80486611}"/>
              </a:ext>
            </a:extLst>
          </p:cNvPr>
          <p:cNvSpPr/>
          <p:nvPr/>
        </p:nvSpPr>
        <p:spPr>
          <a:xfrm>
            <a:off x="3408571" y="563351"/>
            <a:ext cx="5374857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5C3B1-DD03-66B2-3DC7-6AD3C8F758D7}"/>
              </a:ext>
            </a:extLst>
          </p:cNvPr>
          <p:cNvSpPr txBox="1"/>
          <p:nvPr/>
        </p:nvSpPr>
        <p:spPr>
          <a:xfrm>
            <a:off x="537719" y="1575866"/>
            <a:ext cx="1069633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For</a:t>
            </a:r>
            <a:r>
              <a:rPr lang="en-IN" sz="1600" b="1" dirty="0"/>
              <a:t> real estate sellers: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Offer furnishing packages or partnerships with interior designers to boost the price. Encourage sellers to furnish homes.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Highlight quality ratings in listings, especially for high-end buyers. Segment the listings based on quality rating – </a:t>
            </a:r>
            <a:r>
              <a:rPr lang="en-IN" sz="1600" dirty="0" err="1"/>
              <a:t>eg.</a:t>
            </a:r>
            <a:r>
              <a:rPr lang="en-IN" sz="1600" dirty="0"/>
              <a:t> Premium, Executive, Standard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Educate the sellers on upgrades that improve the quality ratings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Promote properties with good coastal access. Reassess pricing strategy for coastal homes based on actual demand , quality and closeness to other amenities.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Highlight spacious houses with floor plans and virtual tours. For small homes, emphasize smart layout and multi-use spaces.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Use size-based pricing brackets to guide buyers – </a:t>
            </a:r>
            <a:r>
              <a:rPr lang="en-IN" sz="1600" dirty="0" err="1"/>
              <a:t>eg</a:t>
            </a:r>
            <a:r>
              <a:rPr lang="en-IN" sz="1600" dirty="0"/>
              <a:t>: Affordable homes with best value under 2000 </a:t>
            </a:r>
            <a:r>
              <a:rPr lang="en-IN" sz="1600" dirty="0" err="1"/>
              <a:t>sqft</a:t>
            </a:r>
            <a:endParaRPr lang="en-IN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Re-assess the price of houses based on the location – use the location cluster insights from the model. </a:t>
            </a:r>
          </a:p>
          <a:p>
            <a:r>
              <a:rPr lang="en-IN" sz="1600" dirty="0"/>
              <a:t>For </a:t>
            </a:r>
            <a:r>
              <a:rPr lang="en-IN" sz="1600" b="1" dirty="0"/>
              <a:t>buyers</a:t>
            </a:r>
            <a:r>
              <a:rPr lang="en-IN" sz="16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Budget conscious buyers can consider unfurnished homes and furnish gradually.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Negotiate furnishings – some sellers may include it to close the deal faster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Avoid overpaying for lower-quality houses. Consider quality 6 – 8 rating for a standard quality house.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Larger homes cost more, but focus on layout efficiency also.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Enquire about location based price trends from real estate agents to decide on the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376056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047C89-C55B-4CD7-9081-A1732BD50FAF}"/>
              </a:ext>
            </a:extLst>
          </p:cNvPr>
          <p:cNvSpPr/>
          <p:nvPr/>
        </p:nvSpPr>
        <p:spPr>
          <a:xfrm>
            <a:off x="4053463" y="2721114"/>
            <a:ext cx="5374857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754165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3794</TotalTime>
  <Words>1487</Words>
  <Application>Microsoft Office PowerPoint</Application>
  <PresentationFormat>Widescreen</PresentationFormat>
  <Paragraphs>246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P</dc:creator>
  <cp:lastModifiedBy>Meenu G</cp:lastModifiedBy>
  <cp:revision>79</cp:revision>
  <dcterms:created xsi:type="dcterms:W3CDTF">2019-12-31T09:37:22Z</dcterms:created>
  <dcterms:modified xsi:type="dcterms:W3CDTF">2025-07-20T03:09:59Z</dcterms:modified>
</cp:coreProperties>
</file>